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0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Inter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7234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25626-450E-BAED-9AAC-810167A1C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5A3D97-2188-519B-7317-05F54C72E8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DD9649-3055-1244-2BC7-0690833A4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3C479-A5ED-B10F-1D70-835ACE03E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32B53E-DC17-6BF7-5746-B453F2974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619791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D0BF1-74EA-61C3-122E-2686D2AEB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F1B78-0525-F35E-4E8D-88EEBBA01C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0FDA7A-526A-F599-CD77-472A6B157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556785-65DB-E65A-966B-9E69FEA25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1D5A7-E983-9C5C-4464-A12B36DE4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74477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13BB4-DCF0-09D7-B9CC-ED2F2F861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85A930-9927-3203-3C8D-F4F633A5C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66C3DF-9D49-8F22-0CFD-49C5ED65C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FF2172-408B-0D89-FB36-857696489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692723-FC04-66AB-C465-EE15DE2D1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571301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498B5-84AF-A907-46A6-82C55540F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3E4D5-69AA-3656-CB0A-EACFE43821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6905B9-D576-4285-49C6-1D2BB5EE4F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D75C6-1B69-691F-A9D8-FC39D7005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EB95ED-6D31-A8D4-E8E5-166871047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E1CDC5-13F9-BE5C-56A3-3E18B855F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00209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C248E-7D3D-67C5-9005-5B80528E5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170F6-8451-95A1-FAD8-CF6FE8DAD2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7EEA9A-22CB-642B-4217-8A50D81D9F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099F33-2637-0B3C-87AA-F3F3045D30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072173-DD25-E724-5A62-7A7A1A098D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64143C-82B6-158B-F71C-C096C11D0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CC339D-5FC8-2C67-C021-62EBE8C7C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753426-58B8-6323-2D4D-45F50C317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37334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B52B1-9B6E-18CD-F017-185DEE25A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E75576-8766-7E39-8638-70DCD0652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6BBA0B-4A53-E6B3-809B-80F863335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2789F3-BBA2-D3C1-D4CF-04E562960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192307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F61DDC-4507-0B89-AD15-E4BF1761C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88DC84-8803-F25D-A91A-C1194CAF5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25DC8F-4AD4-EB9E-CD0B-B573B201E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794965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E0DE8-F283-9494-760B-542130D99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BCCD3-43F1-CEA3-D209-ADCF9673DB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39AB24-C388-2A7B-D540-98C7905025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4D429F-01A1-527C-C7C5-E7ED7379F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B6983D-3EFE-0257-871B-0F61A679D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3234A0-DC2E-DEA0-0D47-0F7BDB4B5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51328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820B7-0D0F-32BB-150C-2FD0770B9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241935-AB1E-E6FC-5C4C-506AD2D88D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77F061-5C60-577D-3D36-3FEB4F1815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C41FF3-B0C2-32D2-EA8E-506B86C2C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22D099-6106-F168-4850-9A65041CE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FD423B-2EE6-44DE-4BF2-18B961C21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43328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7577F-487B-C40C-FA17-5094420B5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54EF03-D99F-7973-5A87-FB6AA5A1A3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273E5A-0D58-2AF5-5916-93C72D847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E7F4BA-A403-96F0-BEB1-AF73ACEEB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EF28C4-CDF2-B8D1-8243-BA72ADD17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464973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C27825-7FD2-723B-593E-D15BB1DB60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E2868F-CED2-D554-1671-B2BB896926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D3134-ECE9-B060-A1C8-022250AC7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EF139-B428-2791-8CF4-77EBDA3D0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EC73A3-C362-4025-C301-FED6F6323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75302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88550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61034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34000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84964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76900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03185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95378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48692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99159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2701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4D71A9-6745-3854-5F49-833729E0A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3589A0-9313-8761-A6CF-135548718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CB36BE-AFC8-B03B-2012-40357EA7B8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013101-092B-D235-6093-961971973E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8DC3C7-C7BE-F7B9-4E73-F3D0B04735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1397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  <p:sldLayoutId id="2147483722" r:id="rId13"/>
    <p:sldLayoutId id="2147483723" r:id="rId14"/>
    <p:sldLayoutId id="2147483724" r:id="rId15"/>
    <p:sldLayoutId id="2147483725" r:id="rId16"/>
    <p:sldLayoutId id="2147483726" r:id="rId17"/>
    <p:sldLayoutId id="2147483727" r:id="rId18"/>
    <p:sldLayoutId id="2147483728" r:id="rId19"/>
    <p:sldLayoutId id="2147483729" r:id="rId20"/>
    <p:sldLayoutId id="2147483730" r:id="rId21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93790" y="3408878"/>
            <a:ext cx="1034879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Hotel Booking Analysis – Key Insights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445781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By: Gaurav Yadav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6521" y="745808"/>
            <a:ext cx="1126212" cy="395526"/>
          </a:xfrm>
          <a:prstGeom prst="roundRect">
            <a:avLst>
              <a:gd name="adj" fmla="val 17879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862727" y="808911"/>
            <a:ext cx="873800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6521" y="1225510"/>
            <a:ext cx="5698688" cy="657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Booking Performance </a:t>
            </a:r>
            <a:endParaRPr lang="en-US" sz="4100" dirty="0"/>
          </a:p>
        </p:txBody>
      </p:sp>
      <p:sp>
        <p:nvSpPr>
          <p:cNvPr id="5" name="Text 3"/>
          <p:cNvSpPr/>
          <p:nvPr/>
        </p:nvSpPr>
        <p:spPr>
          <a:xfrm>
            <a:off x="736521" y="2409111"/>
            <a:ext cx="3806547" cy="394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Total Bookings Analyzed</a:t>
            </a:r>
            <a:endParaRPr lang="en-US" sz="2450" dirty="0"/>
          </a:p>
        </p:txBody>
      </p:sp>
      <p:sp>
        <p:nvSpPr>
          <p:cNvPr id="6" name="Text 4"/>
          <p:cNvSpPr/>
          <p:nvPr/>
        </p:nvSpPr>
        <p:spPr>
          <a:xfrm>
            <a:off x="736521" y="3013948"/>
            <a:ext cx="7689056" cy="1346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examined and analyzed </a:t>
            </a:r>
            <a:r>
              <a:rPr lang="en-US" sz="16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30,000 hotel bookings </a:t>
            </a: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the dataset given identify patterns, trends, and opportunities for optimization. The analyzed data show significant insights of the customers across multiple channels and segments.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36521" y="4571167"/>
            <a:ext cx="2630686" cy="328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Findings</a:t>
            </a:r>
            <a:endParaRPr lang="en-US" sz="2050" dirty="0"/>
          </a:p>
        </p:txBody>
      </p:sp>
      <p:sp>
        <p:nvSpPr>
          <p:cNvPr id="8" name="Text 6"/>
          <p:cNvSpPr/>
          <p:nvPr/>
        </p:nvSpPr>
        <p:spPr>
          <a:xfrm>
            <a:off x="736521" y="5110401"/>
            <a:ext cx="7689056" cy="336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Confirmed bookings represent the majority at </a:t>
            </a:r>
            <a:r>
              <a:rPr lang="en-US" sz="16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73%</a:t>
            </a: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total bookings.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36521" y="5520690"/>
            <a:ext cx="7689056" cy="673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Nearly 1 in 5 bookings result in cancellation, representing significant potential revenue loss.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736521" y="6267688"/>
            <a:ext cx="7689056" cy="673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Failed bookings represents the 7.5% of all, indicating potential technical or payment issues.</a:t>
            </a:r>
            <a:endParaRPr lang="en-US" sz="16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0711" y="2435423"/>
            <a:ext cx="3846671" cy="3948827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946594" y="6620947"/>
            <a:ext cx="4954905" cy="673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bookings are confirmed, but cancellations are the area we need to improve.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33030" y="433745"/>
            <a:ext cx="1449110" cy="295989"/>
          </a:xfrm>
          <a:prstGeom prst="roundRect">
            <a:avLst>
              <a:gd name="adj" fmla="val 17884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2427446" y="480893"/>
            <a:ext cx="1260277" cy="201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ANALYSIS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333030" y="792718"/>
            <a:ext cx="7732038" cy="492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Cancellation Rates by Booking Channels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2333030" y="1521262"/>
            <a:ext cx="9964341" cy="755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seeing which channels of booking have the lowest cancellation, we can focus our marketing and improve the customer experience. </a:t>
            </a:r>
            <a:endParaRPr lang="en-US" sz="12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Cancellation patterns vary a little across these platforms and are roughly the same across all the three channels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127" y="2454235"/>
            <a:ext cx="5366147" cy="384976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333030" y="6481167"/>
            <a:ext cx="9964341" cy="1314688"/>
          </a:xfrm>
          <a:prstGeom prst="roundRect">
            <a:avLst>
              <a:gd name="adj" fmla="val 5033"/>
            </a:avLst>
          </a:prstGeom>
          <a:solidFill>
            <a:srgbClr val="C7C9EA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0549" y="6722983"/>
            <a:ext cx="196810" cy="1575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844879" y="6677978"/>
            <a:ext cx="9294971" cy="503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iOS users have highest cancellation rates at 20.2%, Android users are in middle with 19.4% and web bookings are the most reliable at 18.9%.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2844879" y="7323534"/>
            <a:ext cx="9294971" cy="251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suggests that desktop users make more considered booking choices.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260" y="588764"/>
            <a:ext cx="1273969" cy="402431"/>
          </a:xfrm>
          <a:prstGeom prst="roundRect">
            <a:avLst>
              <a:gd name="adj" fmla="val 17876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877610" y="652939"/>
            <a:ext cx="1017270" cy="274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ROOM TYPE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49260" y="1076801"/>
            <a:ext cx="8694420" cy="669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Cancellation Rates by Room Type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49260" y="2259687"/>
            <a:ext cx="6304836" cy="1369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and room category affect cancellations. Budget rooms see more cancellations, whereas premium rooms are more reliably booked, highlighting cautious behavior among budget-conscious travelers.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49260" y="3822025"/>
            <a:ext cx="6304836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49260" y="4357092"/>
            <a:ext cx="6304836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49260" y="4892159"/>
            <a:ext cx="6304836" cy="1369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rooms have a 22% cancellation rate, which is about 40% higher than Deluxe rooms (15.7%). This indicates guests booking premium rooms are more committed towards their travel plan.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49260" y="6454497"/>
            <a:ext cx="6304836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7583924" y="2281118"/>
            <a:ext cx="2676168" cy="334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Critical Insight</a:t>
            </a:r>
            <a:endParaRPr lang="en-US" sz="21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924" y="2856428"/>
            <a:ext cx="6304836" cy="4030861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583924" y="7128034"/>
            <a:ext cx="6304836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90061" y="551140"/>
            <a:ext cx="7459027" cy="486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Cancellation Rate by hotels Star ratings</a:t>
            </a:r>
            <a:endParaRPr lang="en-US" sz="3050" dirty="0"/>
          </a:p>
        </p:txBody>
      </p:sp>
      <p:sp>
        <p:nvSpPr>
          <p:cNvPr id="3" name="Shape 1"/>
          <p:cNvSpPr/>
          <p:nvPr/>
        </p:nvSpPr>
        <p:spPr>
          <a:xfrm>
            <a:off x="2390061" y="1271349"/>
            <a:ext cx="2345769" cy="1752957"/>
          </a:xfrm>
          <a:prstGeom prst="roundRect">
            <a:avLst>
              <a:gd name="adj" fmla="val 373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53414" y="1434703"/>
            <a:ext cx="1946672" cy="243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2-Star Hotels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553414" y="1771293"/>
            <a:ext cx="2019062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19.9%</a:t>
            </a: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cancellation rate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553414" y="2113717"/>
            <a:ext cx="2019062" cy="747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Indicating moderate cancellations for budget properties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91564" y="1271349"/>
            <a:ext cx="2345769" cy="1752957"/>
          </a:xfrm>
          <a:prstGeom prst="roundRect">
            <a:avLst>
              <a:gd name="adj" fmla="val 373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54918" y="1434703"/>
            <a:ext cx="1946672" cy="243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3-Star Hotels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54918" y="1771293"/>
            <a:ext cx="2019062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20.4%</a:t>
            </a: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cancellation rate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54918" y="2113717"/>
            <a:ext cx="2019062" cy="498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Highest cancellation rate among all categories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93067" y="1271349"/>
            <a:ext cx="2345769" cy="1752957"/>
          </a:xfrm>
          <a:prstGeom prst="roundRect">
            <a:avLst>
              <a:gd name="adj" fmla="val 373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56421" y="1434703"/>
            <a:ext cx="1946672" cy="243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4-Star Hotels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556421" y="1771293"/>
            <a:ext cx="2019062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18.1%</a:t>
            </a: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cancellation rate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556421" y="2113717"/>
            <a:ext cx="2019062" cy="498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 rooms shows strongest commitment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894570" y="1271349"/>
            <a:ext cx="2345769" cy="1752957"/>
          </a:xfrm>
          <a:prstGeom prst="roundRect">
            <a:avLst>
              <a:gd name="adj" fmla="val 373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7924" y="1434703"/>
            <a:ext cx="1946672" cy="243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5-Star Hotels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057924" y="1771293"/>
            <a:ext cx="2019062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19.1%</a:t>
            </a: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cancellation rate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7924" y="2113717"/>
            <a:ext cx="2019062" cy="747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Luxury properties show stable and dependable booking patterns.</a:t>
            </a:r>
            <a:endParaRPr lang="en-US" sz="12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2845" y="3199448"/>
            <a:ext cx="5304711" cy="380571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2390061" y="7180302"/>
            <a:ext cx="9850279" cy="498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3-star properties have slightly higher cancellation rates compared to both budget and premium segments. In contrast, 4-star hotels show the strongest booking commitment at 18.1%, reflecting an optimal balance of value and quality that encourages guest reliability.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3569" y="554831"/>
            <a:ext cx="1664137" cy="394454"/>
          </a:xfrm>
          <a:prstGeom prst="roundRect">
            <a:avLst>
              <a:gd name="adj" fmla="val 17189"/>
            </a:avLst>
          </a:prstGeom>
          <a:noFill/>
          <a:ln w="7620">
            <a:solidFill>
              <a:srgbClr val="4950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62157" y="622935"/>
            <a:ext cx="1406962" cy="258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TRAVEL PURPOSE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33569" y="1029891"/>
            <a:ext cx="8720495" cy="630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Business vs Leisure Travel Patterns</a:t>
            </a:r>
            <a:endParaRPr lang="en-US" sz="3950" dirty="0"/>
          </a:p>
        </p:txBody>
      </p:sp>
      <p:sp>
        <p:nvSpPr>
          <p:cNvPr id="5" name="Text 3"/>
          <p:cNvSpPr/>
          <p:nvPr/>
        </p:nvSpPr>
        <p:spPr>
          <a:xfrm>
            <a:off x="933569" y="2164794"/>
            <a:ext cx="3026807" cy="378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Stay Type Analysis</a:t>
            </a:r>
            <a:endParaRPr lang="en-US" sz="2350" dirty="0"/>
          </a:p>
        </p:txBody>
      </p:sp>
      <p:sp>
        <p:nvSpPr>
          <p:cNvPr id="6" name="Text 4"/>
          <p:cNvSpPr/>
          <p:nvPr/>
        </p:nvSpPr>
        <p:spPr>
          <a:xfrm>
            <a:off x="933569" y="2744748"/>
            <a:ext cx="4809887" cy="645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type of stay has a strong impact on booking behavior and cancellation rates.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33569" y="3572113"/>
            <a:ext cx="4809887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33569" y="4076581"/>
            <a:ext cx="4809887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33569" y="4601170"/>
            <a:ext cx="2522339" cy="315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Takeaway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33569" y="5118140"/>
            <a:ext cx="4809887" cy="1614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Leisure travelers have a cancellation rate of </a:t>
            </a: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20.5%, about 18% higher than business travelers at 17.4%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This reflects the flexible nature of vacations compared to the fixed commitments of business travel.</a:t>
            </a:r>
            <a:endParaRPr lang="en-US" sz="15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3280" y="2190036"/>
            <a:ext cx="7330559" cy="52591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608421" y="764500"/>
            <a:ext cx="1324808" cy="279797"/>
          </a:xfrm>
          <a:prstGeom prst="roundRect">
            <a:avLst>
              <a:gd name="adj" fmla="val 17873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2697718" y="809149"/>
            <a:ext cx="114621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SEASONAL TRENDS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608421" y="1103828"/>
            <a:ext cx="8836819" cy="465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Monthly Cancellation Trend Throughout the Year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2608421" y="1792129"/>
            <a:ext cx="941343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Cancellations vary by season, peaking during holidays and vacation months. Recognizing these patterns helps manage inventory and plan retention strategies for sustained growth.</a:t>
            </a:r>
            <a:endParaRPr lang="en-US" sz="11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7581" y="2435781"/>
            <a:ext cx="7615118" cy="349746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608421" y="6100643"/>
            <a:ext cx="4632246" cy="1364337"/>
          </a:xfrm>
          <a:prstGeom prst="roundRect">
            <a:avLst>
              <a:gd name="adj" fmla="val 5362"/>
            </a:avLst>
          </a:prstGeom>
          <a:solidFill>
            <a:srgbClr val="FFFFFF"/>
          </a:solidFill>
          <a:ln w="15240">
            <a:solidFill>
              <a:srgbClr val="C0C1D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593181" y="6100643"/>
            <a:ext cx="60960" cy="1364337"/>
          </a:xfrm>
          <a:prstGeom prst="roundRect">
            <a:avLst>
              <a:gd name="adj" fmla="val 102540"/>
            </a:avLst>
          </a:prstGeom>
          <a:solidFill>
            <a:srgbClr val="4950BC"/>
          </a:solidFill>
          <a:ln/>
        </p:spPr>
      </p:sp>
      <p:sp>
        <p:nvSpPr>
          <p:cNvPr id="9" name="Text 6"/>
          <p:cNvSpPr/>
          <p:nvPr/>
        </p:nvSpPr>
        <p:spPr>
          <a:xfrm>
            <a:off x="2818209" y="6264712"/>
            <a:ext cx="2366367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Peak Cancellation Periods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2818209" y="6586538"/>
            <a:ext cx="4258389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July-August (summer vacation) and December (year-end holidays) show cancellation rates exceeding 24%, nearly </a:t>
            </a:r>
            <a:r>
              <a:rPr lang="en-US" sz="11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80% higher</a:t>
            </a: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than the most stable months.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389495" y="6100643"/>
            <a:ext cx="4632365" cy="1364337"/>
          </a:xfrm>
          <a:prstGeom prst="roundRect">
            <a:avLst>
              <a:gd name="adj" fmla="val 5362"/>
            </a:avLst>
          </a:prstGeom>
          <a:solidFill>
            <a:srgbClr val="FFFFFF"/>
          </a:solidFill>
          <a:ln w="15240">
            <a:solidFill>
              <a:srgbClr val="C0C1D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374255" y="6100643"/>
            <a:ext cx="60960" cy="1364337"/>
          </a:xfrm>
          <a:prstGeom prst="roundRect">
            <a:avLst>
              <a:gd name="adj" fmla="val 102540"/>
            </a:avLst>
          </a:prstGeom>
          <a:solidFill>
            <a:srgbClr val="4950BC"/>
          </a:solidFill>
          <a:ln/>
        </p:spPr>
      </p:sp>
      <p:sp>
        <p:nvSpPr>
          <p:cNvPr id="13" name="Text 10"/>
          <p:cNvSpPr/>
          <p:nvPr/>
        </p:nvSpPr>
        <p:spPr>
          <a:xfrm>
            <a:off x="7599283" y="6264712"/>
            <a:ext cx="1860352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Most Stable Periods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7599283" y="6586538"/>
            <a:ext cx="4258508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May, June, and November represent the most reliable booking period with cancellation rates around 15-16%, ideal for revenue forecasting.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2361" y="623530"/>
            <a:ext cx="5867162" cy="707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Root Cause Analysis: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2361" y="1670566"/>
            <a:ext cx="13045678" cy="905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reduce cancellations and improve booking reliability, it’s important to understand the factors driving them.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2361" y="2830830"/>
            <a:ext cx="226338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2361" y="3185041"/>
            <a:ext cx="6409611" cy="3048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6" name="Text 4"/>
          <p:cNvSpPr/>
          <p:nvPr/>
        </p:nvSpPr>
        <p:spPr>
          <a:xfrm>
            <a:off x="792361" y="3359110"/>
            <a:ext cx="2829997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Standard Room Risk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2361" y="3848576"/>
            <a:ext cx="6409611" cy="1086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rooms experience higher cancellations because they attract price-sensitive leisure travelers with flexible travel plans and a tendency to shop for better deals.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428309" y="2830830"/>
            <a:ext cx="226338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28309" y="3185041"/>
            <a:ext cx="6409730" cy="3048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0" name="Text 8"/>
          <p:cNvSpPr/>
          <p:nvPr/>
        </p:nvSpPr>
        <p:spPr>
          <a:xfrm>
            <a:off x="7428309" y="3359110"/>
            <a:ext cx="3471505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Mobile Platform Behavior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428309" y="3848576"/>
            <a:ext cx="6409730" cy="724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higher cancellation rates for iOS bookings highlight the quick, convenience-oriented behavior of mobile users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2361" y="5331619"/>
            <a:ext cx="226338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2361" y="5685830"/>
            <a:ext cx="6409611" cy="3048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4" name="Text 12"/>
          <p:cNvSpPr/>
          <p:nvPr/>
        </p:nvSpPr>
        <p:spPr>
          <a:xfrm>
            <a:off x="792361" y="5859899"/>
            <a:ext cx="3338513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Leisure Travel Flexibility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92361" y="6349365"/>
            <a:ext cx="6409611" cy="1086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Cancellations are higher for vacation bookings, as leisure travelers adjust plans based on their personal circumstances, budget, or any other better rates.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428309" y="5331619"/>
            <a:ext cx="226338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428309" y="5685830"/>
            <a:ext cx="6409730" cy="3048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8" name="Text 16"/>
          <p:cNvSpPr/>
          <p:nvPr/>
        </p:nvSpPr>
        <p:spPr>
          <a:xfrm>
            <a:off x="7428309" y="5859899"/>
            <a:ext cx="2829997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Seasonal Holiday 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428309" y="6349365"/>
            <a:ext cx="6409730" cy="1086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Summer and Year-end holidays see the highest cancellation because of the complex planning and commitments of the customers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01247" y="662821"/>
            <a:ext cx="998934" cy="351592"/>
          </a:xfrm>
          <a:prstGeom prst="roundRect">
            <a:avLst>
              <a:gd name="adj" fmla="val 17871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1513403" y="718899"/>
            <a:ext cx="774621" cy="239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STRATEGY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401247" y="1089184"/>
            <a:ext cx="11827907" cy="1168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Business Recommendations for Revenue Optimization</a:t>
            </a:r>
            <a:endParaRPr lang="en-US" sz="3650" dirty="0"/>
          </a:p>
        </p:txBody>
      </p:sp>
      <p:sp>
        <p:nvSpPr>
          <p:cNvPr id="5" name="Shape 3"/>
          <p:cNvSpPr/>
          <p:nvPr/>
        </p:nvSpPr>
        <p:spPr>
          <a:xfrm>
            <a:off x="1401247" y="2538293"/>
            <a:ext cx="3817977" cy="5028486"/>
          </a:xfrm>
          <a:prstGeom prst="roundRect">
            <a:avLst>
              <a:gd name="adj" fmla="val 205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95795" y="2732842"/>
            <a:ext cx="560903" cy="560903"/>
          </a:xfrm>
          <a:prstGeom prst="roundRect">
            <a:avLst>
              <a:gd name="adj" fmla="val 16300654"/>
            </a:avLst>
          </a:prstGeom>
          <a:solidFill>
            <a:srgbClr val="4950BC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49981" y="2887028"/>
            <a:ext cx="252413" cy="2524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95795" y="3480673"/>
            <a:ext cx="2475428" cy="292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Reduce Cancellations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595795" y="3884890"/>
            <a:ext cx="3428881" cy="897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Flexible rescheduling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lets guests change their dates easily to avoid cancelling.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595795" y="4847868"/>
            <a:ext cx="3428881" cy="897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Give discounts for booking that are paid in advance and cant be refunded.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1595795" y="5810845"/>
            <a:ext cx="3428881" cy="897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 automatic remainders during busy months to remind customers of their bookings.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595795" y="6773823"/>
            <a:ext cx="3428881" cy="59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charge a small fee for last-minute cancellation to discourage them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406152" y="2538293"/>
            <a:ext cx="3817977" cy="5028486"/>
          </a:xfrm>
          <a:prstGeom prst="roundRect">
            <a:avLst>
              <a:gd name="adj" fmla="val 205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00700" y="2732842"/>
            <a:ext cx="560903" cy="560903"/>
          </a:xfrm>
          <a:prstGeom prst="roundRect">
            <a:avLst>
              <a:gd name="adj" fmla="val 16300654"/>
            </a:avLst>
          </a:prstGeom>
          <a:solidFill>
            <a:srgbClr val="4950BC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54886" y="2887028"/>
            <a:ext cx="252413" cy="25241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600700" y="3480673"/>
            <a:ext cx="2373392" cy="292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Increase Profitability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5600700" y="3884890"/>
            <a:ext cx="3428881" cy="897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Encourage guests to choose Deluxe or Suite rooms by highlighting extra value.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5600700" y="4847868"/>
            <a:ext cx="3428881" cy="897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Reward guests who book reliably with tiered benefits through programs.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5600700" y="5810845"/>
            <a:ext cx="3428881" cy="59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Partner with companies to get steady business bookings.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5600700" y="6474619"/>
            <a:ext cx="3428881" cy="897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Offer packages (like room + breakfast) to increase value and commitment.</a:t>
            </a:r>
            <a:endParaRPr lang="en-US" sz="1450" dirty="0"/>
          </a:p>
        </p:txBody>
      </p:sp>
      <p:sp>
        <p:nvSpPr>
          <p:cNvPr id="21" name="Shape 17"/>
          <p:cNvSpPr/>
          <p:nvPr/>
        </p:nvSpPr>
        <p:spPr>
          <a:xfrm>
            <a:off x="9411057" y="2538293"/>
            <a:ext cx="3817977" cy="5028486"/>
          </a:xfrm>
          <a:prstGeom prst="roundRect">
            <a:avLst>
              <a:gd name="adj" fmla="val 205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9605605" y="2732842"/>
            <a:ext cx="560903" cy="560903"/>
          </a:xfrm>
          <a:prstGeom prst="roundRect">
            <a:avLst>
              <a:gd name="adj" fmla="val 16300654"/>
            </a:avLst>
          </a:prstGeom>
          <a:solidFill>
            <a:srgbClr val="4950BC"/>
          </a:solidFill>
          <a:ln/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9791" y="2887028"/>
            <a:ext cx="252413" cy="252413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605605" y="3480673"/>
            <a:ext cx="2337435" cy="292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Optimize Channels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9605605" y="3884890"/>
            <a:ext cx="3428881" cy="59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Give special deals on the website to attract users.</a:t>
            </a:r>
            <a:endParaRPr lang="en-US" sz="1450" dirty="0"/>
          </a:p>
        </p:txBody>
      </p:sp>
      <p:sp>
        <p:nvSpPr>
          <p:cNvPr id="26" name="Text 21"/>
          <p:cNvSpPr/>
          <p:nvPr/>
        </p:nvSpPr>
        <p:spPr>
          <a:xfrm>
            <a:off x="9605605" y="4548664"/>
            <a:ext cx="3428881" cy="897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Offer rewards and incentives for bookings made through the mobile app.</a:t>
            </a:r>
            <a:endParaRPr lang="en-US" sz="1450" dirty="0"/>
          </a:p>
        </p:txBody>
      </p:sp>
      <p:sp>
        <p:nvSpPr>
          <p:cNvPr id="27" name="Text 22"/>
          <p:cNvSpPr/>
          <p:nvPr/>
        </p:nvSpPr>
        <p:spPr>
          <a:xfrm>
            <a:off x="9605605" y="5511641"/>
            <a:ext cx="3428881" cy="59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dynamic pricing and early-bird offers to boost bookings.</a:t>
            </a:r>
            <a:endParaRPr lang="en-US" sz="1450" dirty="0"/>
          </a:p>
        </p:txBody>
      </p:sp>
      <p:sp>
        <p:nvSpPr>
          <p:cNvPr id="28" name="Text 23"/>
          <p:cNvSpPr/>
          <p:nvPr/>
        </p:nvSpPr>
        <p:spPr>
          <a:xfrm>
            <a:off x="9605605" y="6175415"/>
            <a:ext cx="3428881" cy="59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booking flows to make them easier and reduce cancellations.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8545" y="738307"/>
            <a:ext cx="7421761" cy="649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Takeaways &amp; Action Plan</a:t>
            </a:r>
            <a:endParaRPr lang="en-US" sz="4050" dirty="0"/>
          </a:p>
        </p:txBody>
      </p:sp>
      <p:sp>
        <p:nvSpPr>
          <p:cNvPr id="3" name="Shape 1"/>
          <p:cNvSpPr/>
          <p:nvPr/>
        </p:nvSpPr>
        <p:spPr>
          <a:xfrm>
            <a:off x="738545" y="1699974"/>
            <a:ext cx="467797" cy="467797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16471" y="1738908"/>
            <a:ext cx="311825" cy="389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1414224" y="1738908"/>
            <a:ext cx="7598926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19.3% Cancellation Rate Represents Revenue Risk</a:t>
            </a:r>
            <a:endParaRPr lang="en-US" sz="2450" dirty="0"/>
          </a:p>
        </p:txBody>
      </p:sp>
      <p:sp>
        <p:nvSpPr>
          <p:cNvPr id="6" name="Text 4"/>
          <p:cNvSpPr/>
          <p:nvPr/>
        </p:nvSpPr>
        <p:spPr>
          <a:xfrm>
            <a:off x="1414224" y="2253496"/>
            <a:ext cx="12477631" cy="665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Nearly one in five bookings are cancelled, representing significant lost revenue and inventory management challenges that require immediate strategic attention.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8545" y="3334941"/>
            <a:ext cx="467797" cy="467797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6471" y="3373874"/>
            <a:ext cx="311825" cy="389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450" dirty="0"/>
          </a:p>
        </p:txBody>
      </p:sp>
      <p:sp>
        <p:nvSpPr>
          <p:cNvPr id="9" name="Text 7"/>
          <p:cNvSpPr/>
          <p:nvPr/>
        </p:nvSpPr>
        <p:spPr>
          <a:xfrm>
            <a:off x="1414224" y="3373874"/>
            <a:ext cx="5807393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High-Risk Segments Clearly Identified</a:t>
            </a:r>
            <a:endParaRPr lang="en-US" sz="2450" dirty="0"/>
          </a:p>
        </p:txBody>
      </p:sp>
      <p:sp>
        <p:nvSpPr>
          <p:cNvPr id="10" name="Text 8"/>
          <p:cNvSpPr/>
          <p:nvPr/>
        </p:nvSpPr>
        <p:spPr>
          <a:xfrm>
            <a:off x="1414224" y="3888462"/>
            <a:ext cx="12477631" cy="665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rooms, leisure travelers, and mobile app users cancel most often. Targeting these groups can have the biggest impact.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8545" y="4969907"/>
            <a:ext cx="467797" cy="467797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6471" y="5008840"/>
            <a:ext cx="311825" cy="389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450" dirty="0"/>
          </a:p>
        </p:txBody>
      </p:sp>
      <p:sp>
        <p:nvSpPr>
          <p:cNvPr id="13" name="Text 11"/>
          <p:cNvSpPr/>
          <p:nvPr/>
        </p:nvSpPr>
        <p:spPr>
          <a:xfrm>
            <a:off x="1414224" y="5008840"/>
            <a:ext cx="4892993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Seasonal Patterns help planning</a:t>
            </a:r>
            <a:endParaRPr lang="en-US" sz="2450" dirty="0"/>
          </a:p>
        </p:txBody>
      </p:sp>
      <p:sp>
        <p:nvSpPr>
          <p:cNvPr id="14" name="Text 12"/>
          <p:cNvSpPr/>
          <p:nvPr/>
        </p:nvSpPr>
        <p:spPr>
          <a:xfrm>
            <a:off x="1414224" y="5523428"/>
            <a:ext cx="12477631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Cancellations peak in July–August and December. Policies, pricing, and overbooking can be adjusted ahead of time.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8545" y="6272093"/>
            <a:ext cx="467797" cy="467797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6471" y="6311027"/>
            <a:ext cx="311825" cy="389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2450" dirty="0"/>
          </a:p>
        </p:txBody>
      </p:sp>
      <p:sp>
        <p:nvSpPr>
          <p:cNvPr id="17" name="Text 15"/>
          <p:cNvSpPr/>
          <p:nvPr/>
        </p:nvSpPr>
        <p:spPr>
          <a:xfrm>
            <a:off x="1414224" y="6311027"/>
            <a:ext cx="4709755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Strategic Actions Drive Results</a:t>
            </a:r>
            <a:endParaRPr lang="en-US" sz="2450" dirty="0"/>
          </a:p>
        </p:txBody>
      </p:sp>
      <p:sp>
        <p:nvSpPr>
          <p:cNvPr id="18" name="Text 16"/>
          <p:cNvSpPr/>
          <p:nvPr/>
        </p:nvSpPr>
        <p:spPr>
          <a:xfrm>
            <a:off x="1414224" y="6825615"/>
            <a:ext cx="12477631" cy="665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Loyalty programs, better channel strategies, and dynamic pricing can reduce cancellations and increase booking value and guest loyalty.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915</Words>
  <Application>Microsoft Office PowerPoint</Application>
  <PresentationFormat>Custom</PresentationFormat>
  <Paragraphs>103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Calibri</vt:lpstr>
      <vt:lpstr>Arial</vt:lpstr>
      <vt:lpstr>Inter Bold</vt:lpstr>
      <vt:lpstr>Inter</vt:lpstr>
      <vt:lpstr>Calibri Light</vt:lpstr>
      <vt:lpstr>Inter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Gaurav Yadav</dc:creator>
  <cp:lastModifiedBy>Gaurav Yadav</cp:lastModifiedBy>
  <cp:revision>2</cp:revision>
  <dcterms:created xsi:type="dcterms:W3CDTF">2026-01-06T12:16:29Z</dcterms:created>
  <dcterms:modified xsi:type="dcterms:W3CDTF">2026-01-06T12:17:55Z</dcterms:modified>
</cp:coreProperties>
</file>